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8566CC-33FE-451C-90BB-DDE44F74794D}"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5FB56-D039-4706-A542-CBF3479615CC}" type="slidenum">
              <a:rPr lang="en-US" smtClean="0"/>
              <a:t>‹#›</a:t>
            </a:fld>
            <a:endParaRPr lang="en-US"/>
          </a:p>
        </p:txBody>
      </p:sp>
    </p:spTree>
    <p:extLst>
      <p:ext uri="{BB962C8B-B14F-4D97-AF65-F5344CB8AC3E}">
        <p14:creationId xmlns:p14="http://schemas.microsoft.com/office/powerpoint/2010/main" val="1849956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Scrum framework relies on clearly defined roles. The Product Owner focuses on customer needs, the Scrum Master supports the team and Agile process, and the Development Team creates the product. Together, these roles improve collaboration and help ensure project goals are achieved.</a:t>
            </a:r>
          </a:p>
          <a:p>
            <a:endParaRPr lang="en-US" dirty="0"/>
          </a:p>
        </p:txBody>
      </p:sp>
      <p:sp>
        <p:nvSpPr>
          <p:cNvPr id="4" name="Slide Number Placeholder 3"/>
          <p:cNvSpPr>
            <a:spLocks noGrp="1"/>
          </p:cNvSpPr>
          <p:nvPr>
            <p:ph type="sldNum" sz="quarter" idx="5"/>
          </p:nvPr>
        </p:nvSpPr>
        <p:spPr/>
        <p:txBody>
          <a:bodyPr/>
          <a:lstStyle/>
          <a:p>
            <a:fld id="{C645FB56-D039-4706-A542-CBF3479615CC}" type="slidenum">
              <a:rPr lang="en-US" smtClean="0"/>
              <a:t>2</a:t>
            </a:fld>
            <a:endParaRPr lang="en-US"/>
          </a:p>
        </p:txBody>
      </p:sp>
    </p:spTree>
    <p:extLst>
      <p:ext uri="{BB962C8B-B14F-4D97-AF65-F5344CB8AC3E}">
        <p14:creationId xmlns:p14="http://schemas.microsoft.com/office/powerpoint/2010/main" val="1575337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Unlike traditional methods, Agile repeats these phases throughout development. Each sprint includes planning, development, testing, and review activities. This allows teams to make adjustments quickly and deliver value incrementally.</a:t>
            </a:r>
          </a:p>
          <a:p>
            <a:endParaRPr lang="en-US" dirty="0"/>
          </a:p>
        </p:txBody>
      </p:sp>
      <p:sp>
        <p:nvSpPr>
          <p:cNvPr id="4" name="Slide Number Placeholder 3"/>
          <p:cNvSpPr>
            <a:spLocks noGrp="1"/>
          </p:cNvSpPr>
          <p:nvPr>
            <p:ph type="sldNum" sz="quarter" idx="5"/>
          </p:nvPr>
        </p:nvSpPr>
        <p:spPr/>
        <p:txBody>
          <a:bodyPr/>
          <a:lstStyle/>
          <a:p>
            <a:fld id="{C645FB56-D039-4706-A542-CBF3479615CC}" type="slidenum">
              <a:rPr lang="en-US" smtClean="0"/>
              <a:t>3</a:t>
            </a:fld>
            <a:endParaRPr lang="en-US"/>
          </a:p>
        </p:txBody>
      </p:sp>
    </p:spTree>
    <p:extLst>
      <p:ext uri="{BB962C8B-B14F-4D97-AF65-F5344CB8AC3E}">
        <p14:creationId xmlns:p14="http://schemas.microsoft.com/office/powerpoint/2010/main" val="498534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difference between Agile and Waterfall is flexibility. Waterfall follows a structured sequence, while Agile allows teams to adapt throughout development. This was beneficial for the SNHU Travel project because requirements could be refined as work progressed.</a:t>
            </a:r>
          </a:p>
        </p:txBody>
      </p:sp>
      <p:sp>
        <p:nvSpPr>
          <p:cNvPr id="4" name="Slide Number Placeholder 3"/>
          <p:cNvSpPr>
            <a:spLocks noGrp="1"/>
          </p:cNvSpPr>
          <p:nvPr>
            <p:ph type="sldNum" sz="quarter" idx="5"/>
          </p:nvPr>
        </p:nvSpPr>
        <p:spPr/>
        <p:txBody>
          <a:bodyPr/>
          <a:lstStyle/>
          <a:p>
            <a:fld id="{C645FB56-D039-4706-A542-CBF3479615CC}" type="slidenum">
              <a:rPr lang="en-US" smtClean="0"/>
              <a:t>4</a:t>
            </a:fld>
            <a:endParaRPr lang="en-US"/>
          </a:p>
        </p:txBody>
      </p:sp>
    </p:spTree>
    <p:extLst>
      <p:ext uri="{BB962C8B-B14F-4D97-AF65-F5344CB8AC3E}">
        <p14:creationId xmlns:p14="http://schemas.microsoft.com/office/powerpoint/2010/main" val="652518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SNHU Travel project had used Waterfall, most requirements would have been finalized early and changes would have been more difficult. Agile allowed the team to adjust priorities, review completed work regularly, and improve the product throughout development.</a:t>
            </a:r>
          </a:p>
        </p:txBody>
      </p:sp>
      <p:sp>
        <p:nvSpPr>
          <p:cNvPr id="4" name="Slide Number Placeholder 3"/>
          <p:cNvSpPr>
            <a:spLocks noGrp="1"/>
          </p:cNvSpPr>
          <p:nvPr>
            <p:ph type="sldNum" sz="quarter" idx="5"/>
          </p:nvPr>
        </p:nvSpPr>
        <p:spPr/>
        <p:txBody>
          <a:bodyPr/>
          <a:lstStyle/>
          <a:p>
            <a:fld id="{C645FB56-D039-4706-A542-CBF3479615CC}" type="slidenum">
              <a:rPr lang="en-US" smtClean="0"/>
              <a:t>5</a:t>
            </a:fld>
            <a:endParaRPr lang="en-US"/>
          </a:p>
        </p:txBody>
      </p:sp>
    </p:spTree>
    <p:extLst>
      <p:ext uri="{BB962C8B-B14F-4D97-AF65-F5344CB8AC3E}">
        <p14:creationId xmlns:p14="http://schemas.microsoft.com/office/powerpoint/2010/main" val="3749512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approaches have advantages. Agile works well when requirements evolve and collaboration is important. Waterfall works best when requirements are stable. Based on the SNHU Travel project, Agile provided the flexibility and communication needed for success.</a:t>
            </a:r>
          </a:p>
        </p:txBody>
      </p:sp>
      <p:sp>
        <p:nvSpPr>
          <p:cNvPr id="4" name="Slide Number Placeholder 3"/>
          <p:cNvSpPr>
            <a:spLocks noGrp="1"/>
          </p:cNvSpPr>
          <p:nvPr>
            <p:ph type="sldNum" sz="quarter" idx="5"/>
          </p:nvPr>
        </p:nvSpPr>
        <p:spPr/>
        <p:txBody>
          <a:bodyPr/>
          <a:lstStyle/>
          <a:p>
            <a:fld id="{C645FB56-D039-4706-A542-CBF3479615CC}" type="slidenum">
              <a:rPr lang="en-US" smtClean="0"/>
              <a:t>6</a:t>
            </a:fld>
            <a:endParaRPr lang="en-US"/>
          </a:p>
        </p:txBody>
      </p:sp>
    </p:spTree>
    <p:extLst>
      <p:ext uri="{BB962C8B-B14F-4D97-AF65-F5344CB8AC3E}">
        <p14:creationId xmlns:p14="http://schemas.microsoft.com/office/powerpoint/2010/main" val="202739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SNHU Travel project demonstrated the benefits of Scrum-Agile development. The framework improved communication, supported changing requirements, and encouraged continuous improvement. Based on this experience, Agile is a strong option for future software development projects.</a:t>
            </a:r>
          </a:p>
        </p:txBody>
      </p:sp>
      <p:sp>
        <p:nvSpPr>
          <p:cNvPr id="4" name="Slide Number Placeholder 3"/>
          <p:cNvSpPr>
            <a:spLocks noGrp="1"/>
          </p:cNvSpPr>
          <p:nvPr>
            <p:ph type="sldNum" sz="quarter" idx="5"/>
          </p:nvPr>
        </p:nvSpPr>
        <p:spPr/>
        <p:txBody>
          <a:bodyPr/>
          <a:lstStyle/>
          <a:p>
            <a:fld id="{C645FB56-D039-4706-A542-CBF3479615CC}" type="slidenum">
              <a:rPr lang="en-US" smtClean="0"/>
              <a:t>7</a:t>
            </a:fld>
            <a:endParaRPr lang="en-US"/>
          </a:p>
        </p:txBody>
      </p:sp>
    </p:spTree>
    <p:extLst>
      <p:ext uri="{BB962C8B-B14F-4D97-AF65-F5344CB8AC3E}">
        <p14:creationId xmlns:p14="http://schemas.microsoft.com/office/powerpoint/2010/main" val="1544874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3058972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156739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1846742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DF1472-89E6-4071-A8A3-F64C7489CF37}"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3823537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DF1472-89E6-4071-A8A3-F64C7489CF37}"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4240309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DF1472-89E6-4071-A8A3-F64C7489CF37}"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464604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DF1472-89E6-4071-A8A3-F64C7489CF37}"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3150888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DF1472-89E6-4071-A8A3-F64C7489CF37}"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2312194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DF1472-89E6-4071-A8A3-F64C7489CF37}"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413911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2160966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77380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3908166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17506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129562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2927862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DF1472-89E6-4071-A8A3-F64C7489CF37}"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48A1B1-D2D2-4A2A-920D-17AD0140030D}" type="slidenum">
              <a:rPr lang="en-US" smtClean="0"/>
              <a:t>‹#›</a:t>
            </a:fld>
            <a:endParaRPr lang="en-US"/>
          </a:p>
        </p:txBody>
      </p:sp>
    </p:spTree>
    <p:extLst>
      <p:ext uri="{BB962C8B-B14F-4D97-AF65-F5344CB8AC3E}">
        <p14:creationId xmlns:p14="http://schemas.microsoft.com/office/powerpoint/2010/main" val="156446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8DF1472-89E6-4071-A8A3-F64C7489CF37}" type="datetimeFigureOut">
              <a:rPr lang="en-US" smtClean="0"/>
              <a:t>6/19/2026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48A1B1-D2D2-4A2A-920D-17AD0140030D}" type="slidenum">
              <a:rPr lang="en-US" smtClean="0"/>
              <a:t>‹#›</a:t>
            </a:fld>
            <a:endParaRPr lang="en-US"/>
          </a:p>
        </p:txBody>
      </p:sp>
    </p:spTree>
    <p:extLst>
      <p:ext uri="{BB962C8B-B14F-4D97-AF65-F5344CB8AC3E}">
        <p14:creationId xmlns:p14="http://schemas.microsoft.com/office/powerpoint/2010/main" val="1898940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sources.scrumalliance.org/?utm_source=chatgpt.com" TargetMode="External"/><Relationship Id="rId2" Type="http://schemas.openxmlformats.org/officeDocument/2006/relationships/hyperlink" Target="https://scrumguides.org/scrum-guide.html" TargetMode="External"/><Relationship Id="rId1" Type="http://schemas.openxmlformats.org/officeDocument/2006/relationships/slideLayout" Target="../slideLayouts/slideLayout2.xml"/><Relationship Id="rId5" Type="http://schemas.openxmlformats.org/officeDocument/2006/relationships/hyperlink" Target="https://learn.microsoft.com/en-us/azure/devops/boards/sprints/scrum-key-concepts?view=azure-devops&amp;utm_source=chatgpt.com" TargetMode="External"/><Relationship Id="rId4" Type="http://schemas.openxmlformats.org/officeDocument/2006/relationships/hyperlink" Target="https://www.atlassian.com/agile/scru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661BB-7DCC-5EA6-2D3A-59D556F2F6A8}"/>
              </a:ext>
            </a:extLst>
          </p:cNvPr>
          <p:cNvSpPr>
            <a:spLocks noGrp="1"/>
          </p:cNvSpPr>
          <p:nvPr>
            <p:ph type="ctrTitle"/>
          </p:nvPr>
        </p:nvSpPr>
        <p:spPr>
          <a:xfrm>
            <a:off x="612648" y="1380744"/>
            <a:ext cx="8661355" cy="2670092"/>
          </a:xfrm>
        </p:spPr>
        <p:txBody>
          <a:bodyPr/>
          <a:lstStyle/>
          <a:p>
            <a:r>
              <a:rPr lang="en-US" dirty="0"/>
              <a:t>Scrum-Agile Development at </a:t>
            </a:r>
            <a:r>
              <a:rPr lang="en-US" dirty="0" err="1"/>
              <a:t>ChadaTech</a:t>
            </a:r>
            <a:endParaRPr lang="en-US" dirty="0"/>
          </a:p>
        </p:txBody>
      </p:sp>
      <p:sp>
        <p:nvSpPr>
          <p:cNvPr id="3" name="Subtitle 2">
            <a:extLst>
              <a:ext uri="{FF2B5EF4-FFF2-40B4-BE49-F238E27FC236}">
                <a16:creationId xmlns:a16="http://schemas.microsoft.com/office/drawing/2014/main" id="{317627C7-11EE-56DD-5BB8-0A2A872F8D26}"/>
              </a:ext>
            </a:extLst>
          </p:cNvPr>
          <p:cNvSpPr>
            <a:spLocks noGrp="1"/>
          </p:cNvSpPr>
          <p:nvPr>
            <p:ph type="subTitle" idx="1"/>
          </p:nvPr>
        </p:nvSpPr>
        <p:spPr>
          <a:xfrm>
            <a:off x="820972" y="4050833"/>
            <a:ext cx="8661355" cy="1096899"/>
          </a:xfrm>
        </p:spPr>
        <p:txBody>
          <a:bodyPr>
            <a:normAutofit fontScale="92500" lnSpcReduction="10000"/>
          </a:bodyPr>
          <a:lstStyle/>
          <a:p>
            <a:r>
              <a:rPr lang="en-US" dirty="0"/>
              <a:t>Southern New Hampshire University</a:t>
            </a:r>
            <a:br>
              <a:rPr lang="en-US" dirty="0"/>
            </a:br>
            <a:r>
              <a:rPr lang="en-US" dirty="0"/>
              <a:t>CS 250</a:t>
            </a:r>
            <a:br>
              <a:rPr lang="en-US" dirty="0"/>
            </a:br>
            <a:r>
              <a:rPr lang="en-US" dirty="0"/>
              <a:t>Andres Cepeda</a:t>
            </a:r>
            <a:br>
              <a:rPr lang="en-US" dirty="0"/>
            </a:br>
            <a:r>
              <a:rPr lang="en-US" dirty="0"/>
              <a:t>June 2026</a:t>
            </a:r>
          </a:p>
        </p:txBody>
      </p:sp>
    </p:spTree>
    <p:extLst>
      <p:ext uri="{BB962C8B-B14F-4D97-AF65-F5344CB8AC3E}">
        <p14:creationId xmlns:p14="http://schemas.microsoft.com/office/powerpoint/2010/main" val="2699090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5895-2378-5142-CE22-3D1CA30D571F}"/>
              </a:ext>
            </a:extLst>
          </p:cNvPr>
          <p:cNvSpPr>
            <a:spLocks noGrp="1"/>
          </p:cNvSpPr>
          <p:nvPr>
            <p:ph type="title"/>
          </p:nvPr>
        </p:nvSpPr>
        <p:spPr/>
        <p:txBody>
          <a:bodyPr/>
          <a:lstStyle/>
          <a:p>
            <a:pPr algn="ctr"/>
            <a:r>
              <a:rPr lang="en-US" dirty="0"/>
              <a:t>Scrum-Agile Team Roles</a:t>
            </a:r>
          </a:p>
        </p:txBody>
      </p:sp>
      <p:sp>
        <p:nvSpPr>
          <p:cNvPr id="3" name="Content Placeholder 2">
            <a:extLst>
              <a:ext uri="{FF2B5EF4-FFF2-40B4-BE49-F238E27FC236}">
                <a16:creationId xmlns:a16="http://schemas.microsoft.com/office/drawing/2014/main" id="{E80675F7-CC58-E4CC-98E6-CEFF76A20784}"/>
              </a:ext>
            </a:extLst>
          </p:cNvPr>
          <p:cNvSpPr>
            <a:spLocks noGrp="1"/>
          </p:cNvSpPr>
          <p:nvPr>
            <p:ph idx="1"/>
          </p:nvPr>
        </p:nvSpPr>
        <p:spPr>
          <a:xfrm>
            <a:off x="677334" y="1344169"/>
            <a:ext cx="8596668" cy="5330951"/>
          </a:xfrm>
        </p:spPr>
        <p:txBody>
          <a:bodyPr>
            <a:normAutofit fontScale="92500" lnSpcReduction="10000"/>
          </a:bodyPr>
          <a:lstStyle/>
          <a:p>
            <a:r>
              <a:rPr lang="en-US" b="1" dirty="0"/>
              <a:t>Product Owner</a:t>
            </a:r>
          </a:p>
          <a:p>
            <a:pPr lvl="1"/>
            <a:r>
              <a:rPr lang="en-US" dirty="0"/>
              <a:t>Defines requirements through user stories </a:t>
            </a:r>
          </a:p>
          <a:p>
            <a:pPr lvl="1"/>
            <a:r>
              <a:rPr lang="en-US" dirty="0"/>
              <a:t>Prioritizes the product backlog </a:t>
            </a:r>
          </a:p>
          <a:p>
            <a:pPr lvl="1"/>
            <a:r>
              <a:rPr lang="en-US" dirty="0"/>
              <a:t>Represents customer needs </a:t>
            </a:r>
          </a:p>
          <a:p>
            <a:r>
              <a:rPr lang="en-US" b="1" dirty="0"/>
              <a:t>Scrum Master</a:t>
            </a:r>
          </a:p>
          <a:p>
            <a:pPr lvl="1"/>
            <a:r>
              <a:rPr lang="en-US" dirty="0"/>
              <a:t>Facilitates Scrum events </a:t>
            </a:r>
          </a:p>
          <a:p>
            <a:pPr lvl="1"/>
            <a:r>
              <a:rPr lang="en-US" dirty="0"/>
              <a:t>Removes obstacles </a:t>
            </a:r>
          </a:p>
          <a:p>
            <a:pPr lvl="1"/>
            <a:r>
              <a:rPr lang="en-US" dirty="0"/>
              <a:t>Supports team collaboration </a:t>
            </a:r>
          </a:p>
          <a:p>
            <a:r>
              <a:rPr lang="en-US" b="1" dirty="0"/>
              <a:t>Development Team</a:t>
            </a:r>
          </a:p>
          <a:p>
            <a:pPr lvl="1"/>
            <a:r>
              <a:rPr lang="en-US" dirty="0"/>
              <a:t>Designs, develops, and tests features </a:t>
            </a:r>
          </a:p>
          <a:p>
            <a:pPr lvl="1"/>
            <a:r>
              <a:rPr lang="en-US" dirty="0"/>
              <a:t>Delivers working software each sprint </a:t>
            </a:r>
          </a:p>
          <a:p>
            <a:r>
              <a:rPr lang="en-US" b="1" dirty="0"/>
              <a:t>Why These Roles Matter</a:t>
            </a:r>
          </a:p>
          <a:p>
            <a:pPr lvl="1"/>
            <a:r>
              <a:rPr lang="en-US" dirty="0"/>
              <a:t>Clear responsibilities </a:t>
            </a:r>
          </a:p>
          <a:p>
            <a:pPr lvl="1"/>
            <a:r>
              <a:rPr lang="en-US" dirty="0"/>
              <a:t>Improved communication </a:t>
            </a:r>
          </a:p>
          <a:p>
            <a:pPr lvl="1"/>
            <a:r>
              <a:rPr lang="en-US" dirty="0"/>
              <a:t>Focus on customer value </a:t>
            </a:r>
          </a:p>
        </p:txBody>
      </p:sp>
    </p:spTree>
    <p:extLst>
      <p:ext uri="{BB962C8B-B14F-4D97-AF65-F5344CB8AC3E}">
        <p14:creationId xmlns:p14="http://schemas.microsoft.com/office/powerpoint/2010/main" val="435138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1940-550D-7736-6FFF-431B63DC9B4E}"/>
              </a:ext>
            </a:extLst>
          </p:cNvPr>
          <p:cNvSpPr>
            <a:spLocks noGrp="1"/>
          </p:cNvSpPr>
          <p:nvPr>
            <p:ph type="title"/>
          </p:nvPr>
        </p:nvSpPr>
        <p:spPr/>
        <p:txBody>
          <a:bodyPr/>
          <a:lstStyle/>
          <a:p>
            <a:pPr algn="ctr"/>
            <a:r>
              <a:rPr lang="en-US" dirty="0"/>
              <a:t>Agile SDLC Phases</a:t>
            </a:r>
          </a:p>
        </p:txBody>
      </p:sp>
      <p:sp>
        <p:nvSpPr>
          <p:cNvPr id="3" name="Content Placeholder 2">
            <a:extLst>
              <a:ext uri="{FF2B5EF4-FFF2-40B4-BE49-F238E27FC236}">
                <a16:creationId xmlns:a16="http://schemas.microsoft.com/office/drawing/2014/main" id="{9120A902-4472-EE32-D4BF-8C02027FF9CC}"/>
              </a:ext>
            </a:extLst>
          </p:cNvPr>
          <p:cNvSpPr>
            <a:spLocks noGrp="1"/>
          </p:cNvSpPr>
          <p:nvPr>
            <p:ph idx="1"/>
          </p:nvPr>
        </p:nvSpPr>
        <p:spPr>
          <a:xfrm>
            <a:off x="677334" y="1197864"/>
            <a:ext cx="8596668" cy="4727448"/>
          </a:xfrm>
        </p:spPr>
        <p:txBody>
          <a:bodyPr>
            <a:normAutofit/>
          </a:bodyPr>
          <a:lstStyle/>
          <a:p>
            <a:r>
              <a:rPr lang="en-US" sz="1700" b="1" dirty="0"/>
              <a:t>Agile Software Development Life Cycle</a:t>
            </a:r>
          </a:p>
          <a:p>
            <a:pPr lvl="1"/>
            <a:r>
              <a:rPr lang="en-US" sz="1400" dirty="0"/>
              <a:t>Planning </a:t>
            </a:r>
          </a:p>
          <a:p>
            <a:pPr lvl="1"/>
            <a:r>
              <a:rPr lang="en-US" sz="1400" dirty="0"/>
              <a:t>Requirements Gathering </a:t>
            </a:r>
          </a:p>
          <a:p>
            <a:pPr lvl="1"/>
            <a:r>
              <a:rPr lang="en-US" sz="1400" dirty="0"/>
              <a:t>Design </a:t>
            </a:r>
          </a:p>
          <a:p>
            <a:pPr lvl="1"/>
            <a:r>
              <a:rPr lang="en-US" sz="1400" dirty="0"/>
              <a:t>Development </a:t>
            </a:r>
          </a:p>
          <a:p>
            <a:pPr lvl="1"/>
            <a:r>
              <a:rPr lang="en-US" sz="1400" dirty="0"/>
              <a:t>Testing </a:t>
            </a:r>
          </a:p>
          <a:p>
            <a:pPr lvl="1"/>
            <a:r>
              <a:rPr lang="en-US" sz="1400" dirty="0"/>
              <a:t>Deployment </a:t>
            </a:r>
          </a:p>
          <a:p>
            <a:pPr lvl="1"/>
            <a:r>
              <a:rPr lang="en-US" sz="1400" dirty="0"/>
              <a:t>Maintenance </a:t>
            </a:r>
          </a:p>
          <a:p>
            <a:r>
              <a:rPr lang="en-US" sz="1700" b="1" dirty="0"/>
              <a:t>Agile Difference</a:t>
            </a:r>
          </a:p>
          <a:p>
            <a:pPr lvl="1"/>
            <a:r>
              <a:rPr lang="en-US" sz="1400" dirty="0"/>
              <a:t>Phases repeat during each sprint </a:t>
            </a:r>
          </a:p>
          <a:p>
            <a:pPr lvl="1"/>
            <a:r>
              <a:rPr lang="en-US" sz="1400" dirty="0"/>
              <a:t>Continuous feedback </a:t>
            </a:r>
          </a:p>
          <a:p>
            <a:pPr lvl="1"/>
            <a:r>
              <a:rPr lang="en-US" sz="1400" dirty="0"/>
              <a:t>Continuous improvement </a:t>
            </a:r>
          </a:p>
        </p:txBody>
      </p:sp>
    </p:spTree>
    <p:extLst>
      <p:ext uri="{BB962C8B-B14F-4D97-AF65-F5344CB8AC3E}">
        <p14:creationId xmlns:p14="http://schemas.microsoft.com/office/powerpoint/2010/main" val="178838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17F8-9795-2CAF-8BD0-B25BC5B76F03}"/>
              </a:ext>
            </a:extLst>
          </p:cNvPr>
          <p:cNvSpPr>
            <a:spLocks noGrp="1"/>
          </p:cNvSpPr>
          <p:nvPr>
            <p:ph type="title"/>
          </p:nvPr>
        </p:nvSpPr>
        <p:spPr>
          <a:xfrm>
            <a:off x="320718" y="554736"/>
            <a:ext cx="8596668" cy="1320800"/>
          </a:xfrm>
        </p:spPr>
        <p:txBody>
          <a:bodyPr/>
          <a:lstStyle/>
          <a:p>
            <a:pPr algn="ctr"/>
            <a:r>
              <a:rPr lang="en-US" dirty="0"/>
              <a:t>Waterfall vs Agile</a:t>
            </a:r>
          </a:p>
        </p:txBody>
      </p:sp>
      <p:graphicFrame>
        <p:nvGraphicFramePr>
          <p:cNvPr id="4" name="Content Placeholder 3">
            <a:extLst>
              <a:ext uri="{FF2B5EF4-FFF2-40B4-BE49-F238E27FC236}">
                <a16:creationId xmlns:a16="http://schemas.microsoft.com/office/drawing/2014/main" id="{4F20F85B-1FC0-430F-E92F-6156907AF1C1}"/>
              </a:ext>
            </a:extLst>
          </p:cNvPr>
          <p:cNvGraphicFramePr>
            <a:graphicFrameLocks noGrp="1"/>
          </p:cNvGraphicFramePr>
          <p:nvPr>
            <p:ph idx="1"/>
            <p:extLst>
              <p:ext uri="{D42A27DB-BD31-4B8C-83A1-F6EECF244321}">
                <p14:modId xmlns:p14="http://schemas.microsoft.com/office/powerpoint/2010/main" val="360141757"/>
              </p:ext>
            </p:extLst>
          </p:nvPr>
        </p:nvGraphicFramePr>
        <p:xfrm>
          <a:off x="677334" y="1513554"/>
          <a:ext cx="8596312" cy="3899694"/>
        </p:xfrm>
        <a:graphic>
          <a:graphicData uri="http://schemas.openxmlformats.org/drawingml/2006/table">
            <a:tbl>
              <a:tblPr>
                <a:tableStyleId>{3C2FFA5D-87B4-456A-9821-1D502468CF0F}</a:tableStyleId>
              </a:tblPr>
              <a:tblGrid>
                <a:gridCol w="4298156">
                  <a:extLst>
                    <a:ext uri="{9D8B030D-6E8A-4147-A177-3AD203B41FA5}">
                      <a16:colId xmlns:a16="http://schemas.microsoft.com/office/drawing/2014/main" val="2202280671"/>
                    </a:ext>
                  </a:extLst>
                </a:gridCol>
                <a:gridCol w="4298156">
                  <a:extLst>
                    <a:ext uri="{9D8B030D-6E8A-4147-A177-3AD203B41FA5}">
                      <a16:colId xmlns:a16="http://schemas.microsoft.com/office/drawing/2014/main" val="1285553521"/>
                    </a:ext>
                  </a:extLst>
                </a:gridCol>
              </a:tblGrid>
              <a:tr h="649949">
                <a:tc>
                  <a:txBody>
                    <a:bodyPr/>
                    <a:lstStyle/>
                    <a:p>
                      <a:pPr algn="ctr">
                        <a:buNone/>
                      </a:pPr>
                      <a:r>
                        <a:rPr lang="en-US" b="1" i="0"/>
                        <a:t>Waterfall</a:t>
                      </a:r>
                    </a:p>
                  </a:txBody>
                  <a:tcPr anchor="ctr"/>
                </a:tc>
                <a:tc>
                  <a:txBody>
                    <a:bodyPr/>
                    <a:lstStyle/>
                    <a:p>
                      <a:pPr algn="ctr">
                        <a:buNone/>
                      </a:pPr>
                      <a:r>
                        <a:rPr lang="en-US" b="1" i="0" dirty="0"/>
                        <a:t>Agile</a:t>
                      </a:r>
                    </a:p>
                  </a:txBody>
                  <a:tcPr anchor="ctr"/>
                </a:tc>
                <a:extLst>
                  <a:ext uri="{0D108BD9-81ED-4DB2-BD59-A6C34878D82A}">
                    <a16:rowId xmlns:a16="http://schemas.microsoft.com/office/drawing/2014/main" val="1721070397"/>
                  </a:ext>
                </a:extLst>
              </a:tr>
              <a:tr h="649949">
                <a:tc>
                  <a:txBody>
                    <a:bodyPr/>
                    <a:lstStyle/>
                    <a:p>
                      <a:pPr>
                        <a:buNone/>
                      </a:pPr>
                      <a:r>
                        <a:rPr lang="en-US" dirty="0"/>
                        <a:t>Sequential process</a:t>
                      </a:r>
                    </a:p>
                  </a:txBody>
                  <a:tcPr anchor="ctr"/>
                </a:tc>
                <a:tc>
                  <a:txBody>
                    <a:bodyPr/>
                    <a:lstStyle/>
                    <a:p>
                      <a:pPr>
                        <a:buNone/>
                      </a:pPr>
                      <a:r>
                        <a:rPr lang="en-US" dirty="0"/>
                        <a:t>Iterative process</a:t>
                      </a:r>
                    </a:p>
                  </a:txBody>
                  <a:tcPr anchor="ctr"/>
                </a:tc>
                <a:extLst>
                  <a:ext uri="{0D108BD9-81ED-4DB2-BD59-A6C34878D82A}">
                    <a16:rowId xmlns:a16="http://schemas.microsoft.com/office/drawing/2014/main" val="1707089496"/>
                  </a:ext>
                </a:extLst>
              </a:tr>
              <a:tr h="649949">
                <a:tc>
                  <a:txBody>
                    <a:bodyPr/>
                    <a:lstStyle/>
                    <a:p>
                      <a:pPr>
                        <a:buNone/>
                      </a:pPr>
                      <a:r>
                        <a:rPr lang="en-US" dirty="0"/>
                        <a:t>Requirements defined upfront</a:t>
                      </a:r>
                    </a:p>
                  </a:txBody>
                  <a:tcPr anchor="ctr"/>
                </a:tc>
                <a:tc>
                  <a:txBody>
                    <a:bodyPr/>
                    <a:lstStyle/>
                    <a:p>
                      <a:pPr>
                        <a:buNone/>
                      </a:pPr>
                      <a:r>
                        <a:rPr lang="en-US"/>
                        <a:t>Requirements evolve</a:t>
                      </a:r>
                    </a:p>
                  </a:txBody>
                  <a:tcPr anchor="ctr"/>
                </a:tc>
                <a:extLst>
                  <a:ext uri="{0D108BD9-81ED-4DB2-BD59-A6C34878D82A}">
                    <a16:rowId xmlns:a16="http://schemas.microsoft.com/office/drawing/2014/main" val="500221804"/>
                  </a:ext>
                </a:extLst>
              </a:tr>
              <a:tr h="649949">
                <a:tc>
                  <a:txBody>
                    <a:bodyPr/>
                    <a:lstStyle/>
                    <a:p>
                      <a:pPr>
                        <a:buNone/>
                      </a:pPr>
                      <a:r>
                        <a:rPr lang="en-US" dirty="0"/>
                        <a:t>Testing near project completion</a:t>
                      </a:r>
                    </a:p>
                  </a:txBody>
                  <a:tcPr anchor="ctr"/>
                </a:tc>
                <a:tc>
                  <a:txBody>
                    <a:bodyPr/>
                    <a:lstStyle/>
                    <a:p>
                      <a:pPr>
                        <a:buNone/>
                      </a:pPr>
                      <a:r>
                        <a:rPr lang="en-US" dirty="0"/>
                        <a:t>Testing throughout development</a:t>
                      </a:r>
                    </a:p>
                  </a:txBody>
                  <a:tcPr anchor="ctr"/>
                </a:tc>
                <a:extLst>
                  <a:ext uri="{0D108BD9-81ED-4DB2-BD59-A6C34878D82A}">
                    <a16:rowId xmlns:a16="http://schemas.microsoft.com/office/drawing/2014/main" val="3340232432"/>
                  </a:ext>
                </a:extLst>
              </a:tr>
              <a:tr h="649949">
                <a:tc>
                  <a:txBody>
                    <a:bodyPr/>
                    <a:lstStyle/>
                    <a:p>
                      <a:pPr>
                        <a:buNone/>
                      </a:pPr>
                      <a:r>
                        <a:rPr lang="en-US"/>
                        <a:t>Changes difficult to implement</a:t>
                      </a:r>
                    </a:p>
                  </a:txBody>
                  <a:tcPr anchor="ctr"/>
                </a:tc>
                <a:tc>
                  <a:txBody>
                    <a:bodyPr/>
                    <a:lstStyle/>
                    <a:p>
                      <a:pPr>
                        <a:buNone/>
                      </a:pPr>
                      <a:r>
                        <a:rPr lang="en-US"/>
                        <a:t>Changes easier to implement</a:t>
                      </a:r>
                    </a:p>
                  </a:txBody>
                  <a:tcPr anchor="ctr"/>
                </a:tc>
                <a:extLst>
                  <a:ext uri="{0D108BD9-81ED-4DB2-BD59-A6C34878D82A}">
                    <a16:rowId xmlns:a16="http://schemas.microsoft.com/office/drawing/2014/main" val="533443165"/>
                  </a:ext>
                </a:extLst>
              </a:tr>
              <a:tr h="649949">
                <a:tc>
                  <a:txBody>
                    <a:bodyPr/>
                    <a:lstStyle/>
                    <a:p>
                      <a:pPr>
                        <a:buNone/>
                      </a:pPr>
                      <a:r>
                        <a:rPr lang="en-US" dirty="0"/>
                        <a:t>Customer feedback limited</a:t>
                      </a:r>
                    </a:p>
                  </a:txBody>
                  <a:tcPr anchor="ctr"/>
                </a:tc>
                <a:tc>
                  <a:txBody>
                    <a:bodyPr/>
                    <a:lstStyle/>
                    <a:p>
                      <a:pPr>
                        <a:buNone/>
                      </a:pPr>
                      <a:r>
                        <a:rPr lang="en-US" dirty="0"/>
                        <a:t>Continuous customer feedback</a:t>
                      </a:r>
                    </a:p>
                  </a:txBody>
                  <a:tcPr anchor="ctr"/>
                </a:tc>
                <a:extLst>
                  <a:ext uri="{0D108BD9-81ED-4DB2-BD59-A6C34878D82A}">
                    <a16:rowId xmlns:a16="http://schemas.microsoft.com/office/drawing/2014/main" val="3864271634"/>
                  </a:ext>
                </a:extLst>
              </a:tr>
            </a:tbl>
          </a:graphicData>
        </a:graphic>
      </p:graphicFrame>
    </p:spTree>
    <p:extLst>
      <p:ext uri="{BB962C8B-B14F-4D97-AF65-F5344CB8AC3E}">
        <p14:creationId xmlns:p14="http://schemas.microsoft.com/office/powerpoint/2010/main" val="3694861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EB3CC-7513-9047-C7A1-D95ED7AC4136}"/>
              </a:ext>
            </a:extLst>
          </p:cNvPr>
          <p:cNvSpPr>
            <a:spLocks noGrp="1"/>
          </p:cNvSpPr>
          <p:nvPr>
            <p:ph type="title"/>
          </p:nvPr>
        </p:nvSpPr>
        <p:spPr/>
        <p:txBody>
          <a:bodyPr/>
          <a:lstStyle/>
          <a:p>
            <a:pPr algn="ctr"/>
            <a:r>
              <a:rPr lang="en-US" dirty="0"/>
              <a:t>SNHU Travel: Waterfall Approach</a:t>
            </a:r>
          </a:p>
        </p:txBody>
      </p:sp>
      <p:sp>
        <p:nvSpPr>
          <p:cNvPr id="3" name="Content Placeholder 2">
            <a:extLst>
              <a:ext uri="{FF2B5EF4-FFF2-40B4-BE49-F238E27FC236}">
                <a16:creationId xmlns:a16="http://schemas.microsoft.com/office/drawing/2014/main" id="{D6B19148-0F61-418E-B97C-B04C07BF2D1B}"/>
              </a:ext>
            </a:extLst>
          </p:cNvPr>
          <p:cNvSpPr>
            <a:spLocks noGrp="1"/>
          </p:cNvSpPr>
          <p:nvPr>
            <p:ph idx="1"/>
          </p:nvPr>
        </p:nvSpPr>
        <p:spPr>
          <a:xfrm>
            <a:off x="677334" y="1472185"/>
            <a:ext cx="8596668" cy="4569178"/>
          </a:xfrm>
        </p:spPr>
        <p:txBody>
          <a:bodyPr>
            <a:normAutofit/>
          </a:bodyPr>
          <a:lstStyle/>
          <a:p>
            <a:r>
              <a:rPr lang="en-US" b="1" dirty="0"/>
              <a:t>Potential Challenges</a:t>
            </a:r>
          </a:p>
          <a:p>
            <a:pPr lvl="1"/>
            <a:r>
              <a:rPr lang="en-US" sz="1400" dirty="0"/>
              <a:t>User stories defined at the beginning </a:t>
            </a:r>
          </a:p>
          <a:p>
            <a:pPr lvl="1"/>
            <a:r>
              <a:rPr lang="en-US" sz="1400" dirty="0"/>
              <a:t>Limited ability to adjust requirements </a:t>
            </a:r>
          </a:p>
          <a:p>
            <a:pPr lvl="1"/>
            <a:r>
              <a:rPr lang="en-US" sz="1400" dirty="0"/>
              <a:t>Testing delayed until later phases </a:t>
            </a:r>
          </a:p>
          <a:p>
            <a:pPr lvl="1"/>
            <a:r>
              <a:rPr lang="en-US" sz="1400" dirty="0"/>
              <a:t>Problems discovered later in development </a:t>
            </a:r>
          </a:p>
          <a:p>
            <a:r>
              <a:rPr lang="en-US" b="1" dirty="0"/>
              <a:t>Agile Benefits</a:t>
            </a:r>
          </a:p>
          <a:p>
            <a:pPr lvl="1"/>
            <a:r>
              <a:rPr lang="en-US" sz="1400" dirty="0"/>
              <a:t>Frequent feedback </a:t>
            </a:r>
          </a:p>
          <a:p>
            <a:pPr lvl="1"/>
            <a:r>
              <a:rPr lang="en-US" sz="1400" dirty="0"/>
              <a:t>Early testing </a:t>
            </a:r>
          </a:p>
          <a:p>
            <a:pPr lvl="1"/>
            <a:r>
              <a:rPr lang="en-US" sz="1400" dirty="0"/>
              <a:t>Incremental delivery </a:t>
            </a:r>
          </a:p>
          <a:p>
            <a:pPr lvl="1"/>
            <a:r>
              <a:rPr lang="en-US" sz="1400" dirty="0"/>
              <a:t>Easier adaptation to change</a:t>
            </a:r>
          </a:p>
          <a:p>
            <a:endParaRPr lang="en-US" dirty="0"/>
          </a:p>
        </p:txBody>
      </p:sp>
    </p:spTree>
    <p:extLst>
      <p:ext uri="{BB962C8B-B14F-4D97-AF65-F5344CB8AC3E}">
        <p14:creationId xmlns:p14="http://schemas.microsoft.com/office/powerpoint/2010/main" val="599371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52BD7-59F2-F7A9-FE5E-EE0C83389478}"/>
              </a:ext>
            </a:extLst>
          </p:cNvPr>
          <p:cNvSpPr>
            <a:spLocks noGrp="1"/>
          </p:cNvSpPr>
          <p:nvPr>
            <p:ph type="title"/>
          </p:nvPr>
        </p:nvSpPr>
        <p:spPr/>
        <p:txBody>
          <a:bodyPr/>
          <a:lstStyle/>
          <a:p>
            <a:pPr algn="ctr"/>
            <a:r>
              <a:rPr lang="en-US" dirty="0"/>
              <a:t>Choosing Agile or Waterfall</a:t>
            </a:r>
          </a:p>
        </p:txBody>
      </p:sp>
      <p:sp>
        <p:nvSpPr>
          <p:cNvPr id="3" name="Content Placeholder 2">
            <a:extLst>
              <a:ext uri="{FF2B5EF4-FFF2-40B4-BE49-F238E27FC236}">
                <a16:creationId xmlns:a16="http://schemas.microsoft.com/office/drawing/2014/main" id="{7DD42D9F-FDCB-501B-19F2-5A713C75A743}"/>
              </a:ext>
            </a:extLst>
          </p:cNvPr>
          <p:cNvSpPr>
            <a:spLocks noGrp="1"/>
          </p:cNvSpPr>
          <p:nvPr>
            <p:ph idx="1"/>
          </p:nvPr>
        </p:nvSpPr>
        <p:spPr>
          <a:xfrm>
            <a:off x="677334" y="1502221"/>
            <a:ext cx="8596668" cy="4313363"/>
          </a:xfrm>
        </p:spPr>
        <p:txBody>
          <a:bodyPr>
            <a:normAutofit fontScale="77500" lnSpcReduction="20000"/>
          </a:bodyPr>
          <a:lstStyle/>
          <a:p>
            <a:pPr marL="0" indent="0" algn="ctr">
              <a:buNone/>
            </a:pPr>
            <a:r>
              <a:rPr lang="en-US" sz="2600" b="1" dirty="0"/>
              <a:t>Factors to Consider</a:t>
            </a:r>
          </a:p>
          <a:p>
            <a:r>
              <a:rPr lang="en-US" sz="2600" b="1" dirty="0"/>
              <a:t>Choose Agile When:</a:t>
            </a:r>
          </a:p>
          <a:p>
            <a:pPr lvl="1"/>
            <a:r>
              <a:rPr lang="en-US" sz="1800" dirty="0"/>
              <a:t>Requirements may change </a:t>
            </a:r>
          </a:p>
          <a:p>
            <a:pPr lvl="1"/>
            <a:r>
              <a:rPr lang="en-US" sz="1800" dirty="0"/>
              <a:t>Customer feedback is important </a:t>
            </a:r>
          </a:p>
          <a:p>
            <a:pPr lvl="1"/>
            <a:r>
              <a:rPr lang="en-US" sz="1800" dirty="0"/>
              <a:t>Flexibility is needed </a:t>
            </a:r>
          </a:p>
          <a:p>
            <a:pPr lvl="1"/>
            <a:r>
              <a:rPr lang="en-US" sz="1800" dirty="0"/>
              <a:t>Incremental delivery provides value </a:t>
            </a:r>
          </a:p>
          <a:p>
            <a:r>
              <a:rPr lang="en-US" sz="2600" b="1" dirty="0"/>
              <a:t>Choose Waterfall When:</a:t>
            </a:r>
          </a:p>
          <a:p>
            <a:pPr lvl="1"/>
            <a:r>
              <a:rPr lang="en-US" sz="1800" dirty="0"/>
              <a:t>Requirements are clearly defined </a:t>
            </a:r>
          </a:p>
          <a:p>
            <a:pPr lvl="1"/>
            <a:r>
              <a:rPr lang="en-US" sz="1800" dirty="0"/>
              <a:t>Scope is unlikely to change </a:t>
            </a:r>
          </a:p>
          <a:p>
            <a:pPr lvl="1"/>
            <a:r>
              <a:rPr lang="en-US" sz="1800" dirty="0"/>
              <a:t>Strong documentation is required </a:t>
            </a:r>
          </a:p>
          <a:p>
            <a:pPr lvl="1"/>
            <a:r>
              <a:rPr lang="en-US" sz="1800" dirty="0"/>
              <a:t>Predictability is important </a:t>
            </a:r>
          </a:p>
          <a:p>
            <a:pPr marL="0" indent="0" algn="r">
              <a:buNone/>
            </a:pPr>
            <a:r>
              <a:rPr lang="en-US" sz="2600" b="1" dirty="0"/>
              <a:t>Recommendation</a:t>
            </a:r>
            <a:endParaRPr lang="en-US" b="1" dirty="0"/>
          </a:p>
          <a:p>
            <a:pPr marL="457200" lvl="1" indent="0" algn="r">
              <a:buNone/>
            </a:pPr>
            <a:r>
              <a:rPr lang="en-US" sz="1800" dirty="0"/>
              <a:t>Agile was the best choice for the SNHU Travel project.</a:t>
            </a:r>
          </a:p>
        </p:txBody>
      </p:sp>
    </p:spTree>
    <p:extLst>
      <p:ext uri="{BB962C8B-B14F-4D97-AF65-F5344CB8AC3E}">
        <p14:creationId xmlns:p14="http://schemas.microsoft.com/office/powerpoint/2010/main" val="4257687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5C845-4E58-3850-80C8-F05C5A74ED47}"/>
              </a:ext>
            </a:extLst>
          </p:cNvPr>
          <p:cNvSpPr>
            <a:spLocks noGrp="1"/>
          </p:cNvSpPr>
          <p:nvPr>
            <p:ph type="title"/>
          </p:nvPr>
        </p:nvSpPr>
        <p:spPr/>
        <p:txBody>
          <a:bodyPr/>
          <a:lstStyle/>
          <a:p>
            <a:pPr algn="ctr"/>
            <a:r>
              <a:rPr lang="en-US" b="1" dirty="0"/>
              <a:t>Conclusion</a:t>
            </a:r>
            <a:br>
              <a:rPr lang="en-US" b="1" dirty="0"/>
            </a:br>
            <a:endParaRPr lang="en-US" dirty="0"/>
          </a:p>
        </p:txBody>
      </p:sp>
      <p:sp>
        <p:nvSpPr>
          <p:cNvPr id="3" name="Content Placeholder 2">
            <a:extLst>
              <a:ext uri="{FF2B5EF4-FFF2-40B4-BE49-F238E27FC236}">
                <a16:creationId xmlns:a16="http://schemas.microsoft.com/office/drawing/2014/main" id="{5122F9FD-98E1-F71E-C56D-412C1DAA53AA}"/>
              </a:ext>
            </a:extLst>
          </p:cNvPr>
          <p:cNvSpPr>
            <a:spLocks noGrp="1"/>
          </p:cNvSpPr>
          <p:nvPr>
            <p:ph idx="1"/>
          </p:nvPr>
        </p:nvSpPr>
        <p:spPr/>
        <p:txBody>
          <a:bodyPr/>
          <a:lstStyle/>
          <a:p>
            <a:r>
              <a:rPr lang="en-US" dirty="0"/>
              <a:t>Scrum-Agile improved collaboration </a:t>
            </a:r>
          </a:p>
          <a:p>
            <a:r>
              <a:rPr lang="en-US" dirty="0"/>
              <a:t>User stories helped prioritize work </a:t>
            </a:r>
          </a:p>
          <a:p>
            <a:r>
              <a:rPr lang="en-US" dirty="0"/>
              <a:t>Continuous testing improved quality </a:t>
            </a:r>
          </a:p>
          <a:p>
            <a:r>
              <a:rPr lang="en-US" dirty="0"/>
              <a:t>Agile allowed adaptation to change </a:t>
            </a:r>
          </a:p>
          <a:p>
            <a:r>
              <a:rPr lang="en-US" dirty="0" err="1"/>
              <a:t>ChadaTech</a:t>
            </a:r>
            <a:r>
              <a:rPr lang="en-US" dirty="0"/>
              <a:t> should continue adopting Agile practices</a:t>
            </a:r>
          </a:p>
          <a:p>
            <a:endParaRPr lang="en-US" dirty="0"/>
          </a:p>
        </p:txBody>
      </p:sp>
    </p:spTree>
    <p:extLst>
      <p:ext uri="{BB962C8B-B14F-4D97-AF65-F5344CB8AC3E}">
        <p14:creationId xmlns:p14="http://schemas.microsoft.com/office/powerpoint/2010/main" val="2915451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ACC24-6D1F-9003-E0E6-5C54B6B5F1F3}"/>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B5039643-95A9-3E82-6232-2FBED7B10951}"/>
              </a:ext>
            </a:extLst>
          </p:cNvPr>
          <p:cNvSpPr>
            <a:spLocks noGrp="1"/>
          </p:cNvSpPr>
          <p:nvPr>
            <p:ph idx="1"/>
          </p:nvPr>
        </p:nvSpPr>
        <p:spPr/>
        <p:txBody>
          <a:bodyPr/>
          <a:lstStyle/>
          <a:p>
            <a:r>
              <a:rPr lang="en-US" dirty="0"/>
              <a:t>Schwaber, K., &amp; Sutherland, J. (2020). </a:t>
            </a:r>
            <a:r>
              <a:rPr lang="en-US" i="1" dirty="0"/>
              <a:t>The Scrum guide: The definitive guide to Scrum: The rules of the game</a:t>
            </a:r>
            <a:r>
              <a:rPr lang="en-US" dirty="0"/>
              <a:t>. Scrum Guides. </a:t>
            </a:r>
            <a:r>
              <a:rPr lang="en-US" dirty="0">
                <a:hlinkClick r:id="rId2"/>
              </a:rPr>
              <a:t>https://scrumguides.org/scrum-guide.html</a:t>
            </a:r>
            <a:endParaRPr lang="en-US" dirty="0"/>
          </a:p>
          <a:p>
            <a:r>
              <a:rPr lang="en-US" dirty="0"/>
              <a:t>Scrum Alliance. (2026). </a:t>
            </a:r>
            <a:r>
              <a:rPr lang="en-US" i="1" dirty="0"/>
              <a:t>Scrum and agile resources</a:t>
            </a:r>
            <a:r>
              <a:rPr lang="en-US" dirty="0"/>
              <a:t>. Scrum Alliance. Retrieved June 19, 2026, from </a:t>
            </a:r>
            <a:r>
              <a:rPr lang="en-US" dirty="0">
                <a:hlinkClick r:id="rId3"/>
              </a:rPr>
              <a:t>https://resources.scrumalliance.org/</a:t>
            </a:r>
            <a:r>
              <a:rPr lang="en-US" dirty="0"/>
              <a:t> </a:t>
            </a:r>
          </a:p>
          <a:p>
            <a:r>
              <a:rPr lang="en-US" dirty="0"/>
              <a:t>Atlassian. (2026). </a:t>
            </a:r>
            <a:r>
              <a:rPr lang="en-US" i="1" dirty="0"/>
              <a:t>What is Scrum? A guide to the Agile framework</a:t>
            </a:r>
            <a:r>
              <a:rPr lang="en-US" dirty="0"/>
              <a:t>. Atlassian. Retrieved June 19, 2026, from </a:t>
            </a:r>
            <a:r>
              <a:rPr lang="en-US" dirty="0">
                <a:hlinkClick r:id="rId4"/>
              </a:rPr>
              <a:t>https://www.atlassian.com/agile/scrum</a:t>
            </a:r>
            <a:endParaRPr lang="en-US" dirty="0"/>
          </a:p>
          <a:p>
            <a:r>
              <a:rPr lang="en-US" dirty="0"/>
              <a:t>Microsoft. (2025). </a:t>
            </a:r>
            <a:r>
              <a:rPr lang="en-US" i="1" dirty="0"/>
              <a:t>Key concepts for Sprints and Scrum tools in Azure Boards</a:t>
            </a:r>
            <a:r>
              <a:rPr lang="en-US" dirty="0"/>
              <a:t>. Microsoft Learn. Retrieved June 19, 2026, from </a:t>
            </a:r>
            <a:r>
              <a:rPr lang="en-US" dirty="0">
                <a:hlinkClick r:id="rId5"/>
              </a:rPr>
              <a:t>https://learn.microsoft.com/en-us/azure/devops/boards/sprints/scrum-key-concepts?view=azure-devops</a:t>
            </a:r>
            <a:endParaRPr lang="en-US" dirty="0"/>
          </a:p>
        </p:txBody>
      </p:sp>
    </p:spTree>
    <p:extLst>
      <p:ext uri="{BB962C8B-B14F-4D97-AF65-F5344CB8AC3E}">
        <p14:creationId xmlns:p14="http://schemas.microsoft.com/office/powerpoint/2010/main" val="13992145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30</TotalTime>
  <Words>668</Words>
  <Application>Microsoft Office PowerPoint</Application>
  <PresentationFormat>Widescreen</PresentationFormat>
  <Paragraphs>92</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Trebuchet MS</vt:lpstr>
      <vt:lpstr>Wingdings 3</vt:lpstr>
      <vt:lpstr>Facet</vt:lpstr>
      <vt:lpstr>Scrum-Agile Development at ChadaTech</vt:lpstr>
      <vt:lpstr>Scrum-Agile Team Roles</vt:lpstr>
      <vt:lpstr>Agile SDLC Phases</vt:lpstr>
      <vt:lpstr>Waterfall vs Agile</vt:lpstr>
      <vt:lpstr>SNHU Travel: Waterfall Approach</vt:lpstr>
      <vt:lpstr>Choosing Agile or Waterfall</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Cepeda, Sofie R.</dc:creator>
  <cp:lastModifiedBy>Cepeda, Sofie R.</cp:lastModifiedBy>
  <cp:revision>17</cp:revision>
  <dcterms:created xsi:type="dcterms:W3CDTF">2026-06-19T19:33:05Z</dcterms:created>
  <dcterms:modified xsi:type="dcterms:W3CDTF">2026-06-19T20:03:15Z</dcterms:modified>
</cp:coreProperties>
</file>